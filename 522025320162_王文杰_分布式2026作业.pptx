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88952" cy="1463040"/>
          </a:xfrm>
          <a:prstGeom prst="rect">
            <a:avLst/>
          </a:prstGeom>
          <a:solidFill>
            <a:srgbClr val="0D1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软雅黑"/>
              </a:rPr>
              <a:t>Motor：在分离式内存上为分布式事务启用多版本机制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3611880"/>
            <a:ext cx="8897112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0" y="3639312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FFFFFF"/>
                </a:solidFill>
                <a:latin typeface="微软雅黑"/>
              </a:rPr>
              <a:t>OSDI 2024  ·  Ming Zhang, Yu Hua, Zhijun Yang  ·  华中科技大学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ACCFF"/>
                </a:solidFill>
                <a:latin typeface="微软雅黑"/>
              </a:rPr>
              <a:t>演讲人：[姓名]　　学号：[学号]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937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8AADD"/>
                </a:solidFill>
                <a:latin typeface="微软雅黑"/>
              </a:rPr>
              <a:t>课程：分布式系统  ·  2026年6月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DFF"/>
                </a:solidFill>
                <a:latin typeface="微软雅黑"/>
              </a:rPr>
              <a:t>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微软雅黑"/>
              </a:rPr>
              <a:t>OSDI 2024 | Motor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78992"/>
            <a:ext cx="3474720" cy="13716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DD44"/>
                </a:solidFill>
                <a:latin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微软雅黑"/>
              </a:rPr>
              <a:t>研究背景与动机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77640" y="1078992"/>
            <a:ext cx="3474720" cy="13716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11887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DD44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173736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微软雅黑"/>
              </a:rPr>
              <a:t>挑战：多版本机制的移植困境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35240" y="1078992"/>
            <a:ext cx="3474720" cy="13716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11887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DD44"/>
                </a:solidFill>
                <a:latin typeface="微软雅黑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173736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微软雅黑"/>
              </a:rPr>
              <a:t>Motor 总体架构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615184"/>
            <a:ext cx="3474720" cy="13716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72491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DD44"/>
                </a:solidFill>
                <a:latin typeface="微软雅黑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73552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微软雅黑"/>
              </a:rPr>
              <a:t>连续版本元组（CVT）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77640" y="2615184"/>
            <a:ext cx="3474720" cy="13716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0" y="272491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DD44"/>
                </a:solidFill>
                <a:latin typeface="微软雅黑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3273552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微软雅黑"/>
              </a:rPr>
              <a:t>独立值域与内存优化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35240" y="2615184"/>
            <a:ext cx="3474720" cy="13716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272491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DD44"/>
                </a:solidFill>
                <a:latin typeface="微软雅黑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3273552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微软雅黑"/>
              </a:rPr>
              <a:t>垃圾回收与锚标志一致性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151376"/>
            <a:ext cx="3474720" cy="13716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261104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DD44"/>
                </a:solidFill>
                <a:latin typeface="微软雅黑"/>
              </a:rP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809744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微软雅黑"/>
              </a:rPr>
              <a:t>MVCC 事务协议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77640" y="4151376"/>
            <a:ext cx="3474720" cy="13716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0" y="4261104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DD44"/>
                </a:solidFill>
                <a:latin typeface="微软雅黑"/>
              </a:rPr>
              <a:t>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4809744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微软雅黑"/>
              </a:rPr>
              <a:t>实验评估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35240" y="4151376"/>
            <a:ext cx="3474720" cy="13716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0" y="4261104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DD44"/>
                </a:solidFill>
                <a:latin typeface="微软雅黑"/>
              </a:rPr>
              <a:t>09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4809744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微软雅黑"/>
              </a:rPr>
              <a:t>结论与总结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研究背景：内存分离架构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DFF"/>
                </a:solidFill>
                <a:latin typeface="微软雅黑"/>
              </a:rPr>
              <a:t>Memory Disaggregation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微软雅黑"/>
              </a:rPr>
              <a:t>OSDI 2024 | Motor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78992"/>
            <a:ext cx="5577840" cy="338328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152144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微软雅黑"/>
              </a:rPr>
              <a:t>传统单体 vs 内存分离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499616"/>
            <a:ext cx="5349240" cy="294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600">
                <a:solidFill>
                  <a:srgbClr val="1A1A2E"/>
                </a:solidFill>
                <a:latin typeface="微软雅黑"/>
              </a:rPr>
              <a:t>▶  传统单体服务器：计算+内存紧耦合，资源利用率低</a:t>
            </a:r>
          </a:p>
          <a:p>
            <a:pPr algn="l">
              <a:spcBef>
                <a:spcPts val="500"/>
              </a:spcBef>
            </a:pPr>
            <a:r>
              <a:rPr sz="1600">
                <a:solidFill>
                  <a:srgbClr val="1A1A2E"/>
                </a:solidFill>
                <a:latin typeface="微软雅黑"/>
              </a:rPr>
              <a:t>▶  故障域粗糙：一 CPU 故障导致整机不可用</a:t>
            </a:r>
          </a:p>
          <a:p>
            <a:pPr algn="l">
              <a:spcBef>
                <a:spcPts val="500"/>
              </a:spcBef>
            </a:pPr>
            <a:r>
              <a:rPr sz="1600">
                <a:solidFill>
                  <a:srgbClr val="1A1A2E"/>
                </a:solidFill>
                <a:latin typeface="微软雅黑"/>
              </a:rPr>
              <a:t>▶  内存分离：将计算池与内存池解耦，通过 RDMA/CXL 互连</a:t>
            </a:r>
          </a:p>
          <a:p>
            <a:pPr algn="l">
              <a:spcBef>
                <a:spcPts val="500"/>
              </a:spcBef>
            </a:pPr>
            <a:r>
              <a:rPr sz="1600">
                <a:solidFill>
                  <a:srgbClr val="1A1A2E"/>
                </a:solidFill>
                <a:latin typeface="微软雅黑"/>
              </a:rPr>
              <a:t>▶  计算池：强 CPU，少量 DRAM 用于元数据缓存</a:t>
            </a:r>
          </a:p>
          <a:p>
            <a:pPr algn="l">
              <a:spcBef>
                <a:spcPts val="500"/>
              </a:spcBef>
            </a:pPr>
            <a:r>
              <a:rPr sz="1600">
                <a:solidFill>
                  <a:srgbClr val="1A1A2E"/>
                </a:solidFill>
                <a:latin typeface="微软雅黑"/>
              </a:rPr>
              <a:t>▶  内存池：大容量 DRAM，弱计算单元（仅内存分配）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078992"/>
            <a:ext cx="5852160" cy="2194560"/>
          </a:xfrm>
          <a:prstGeom prst="rect">
            <a:avLst/>
          </a:prstGeom>
          <a:solidFill>
            <a:srgbClr val="E0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44768" y="1152144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7A3A"/>
                </a:solidFill>
                <a:latin typeface="微软雅黑"/>
              </a:rPr>
              <a:t>内存分离的优势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499616"/>
            <a:ext cx="5623560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600">
                <a:solidFill>
                  <a:srgbClr val="1A1A2E"/>
                </a:solidFill>
                <a:latin typeface="微软雅黑"/>
              </a:rPr>
              <a:t>▶  资源利用率显著提升（按需分配）</a:t>
            </a:r>
          </a:p>
          <a:p>
            <a:pPr algn="l">
              <a:spcBef>
                <a:spcPts val="500"/>
              </a:spcBef>
            </a:pPr>
            <a:r>
              <a:rPr sz="1600">
                <a:solidFill>
                  <a:srgbClr val="1A1A2E"/>
                </a:solidFill>
                <a:latin typeface="微软雅黑"/>
              </a:rPr>
              <a:t>▶  弹性扩缩容（独立扩展计算/内存）</a:t>
            </a:r>
          </a:p>
          <a:p>
            <a:pPr algn="l">
              <a:spcBef>
                <a:spcPts val="500"/>
              </a:spcBef>
            </a:pPr>
            <a:r>
              <a:rPr sz="1600">
                <a:solidFill>
                  <a:srgbClr val="1A1A2E"/>
                </a:solidFill>
                <a:latin typeface="微软雅黑"/>
              </a:rPr>
              <a:t>▶  故障隔离（故障域缩小至单资源池）</a:t>
            </a:r>
          </a:p>
          <a:p>
            <a:pPr algn="l">
              <a:spcBef>
                <a:spcPts val="500"/>
              </a:spcBef>
            </a:pPr>
            <a:r>
              <a:rPr sz="1600">
                <a:solidFill>
                  <a:srgbClr val="1A1A2E"/>
                </a:solidFill>
                <a:latin typeface="微软雅黑"/>
              </a:rPr>
              <a:t>▶  代表性互连技术：RDMA（100 Gbps）、CXL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3429000"/>
            <a:ext cx="5852160" cy="18288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4768" y="3502152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B85A00"/>
                </a:solidFill>
                <a:latin typeface="微软雅黑"/>
              </a:rPr>
              <a:t>单侧 RDMA 操作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3849624"/>
            <a:ext cx="562356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600">
                <a:solidFill>
                  <a:srgbClr val="1A1A2E"/>
                </a:solidFill>
                <a:latin typeface="微软雅黑"/>
              </a:rPr>
              <a:t>▶  单侧 RDMA：绕过远程 CPU 直接读写内存</a:t>
            </a:r>
          </a:p>
          <a:p>
            <a:pPr algn="l">
              <a:spcBef>
                <a:spcPts val="500"/>
              </a:spcBef>
            </a:pPr>
            <a:r>
              <a:rPr sz="1600">
                <a:solidFill>
                  <a:srgbClr val="1A1A2E"/>
                </a:solidFill>
                <a:latin typeface="微软雅黑"/>
              </a:rPr>
              <a:t>▶  支持 READ / WRITE / CAS / FAA 原子操作</a:t>
            </a:r>
          </a:p>
          <a:p>
            <a:pPr algn="l">
              <a:spcBef>
                <a:spcPts val="500"/>
              </a:spcBef>
            </a:pPr>
            <a:r>
              <a:rPr sz="1600">
                <a:solidFill>
                  <a:srgbClr val="1A1A2E"/>
                </a:solidFill>
                <a:latin typeface="微软雅黑"/>
              </a:rPr>
              <a:t>▶  100 Gbps InfiniBand，微秒级延迟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61772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E84C2E"/>
                </a:solidFill>
                <a:latin typeface="微软雅黑"/>
              </a:rPr>
              <a:t>核心挑战：如何在弱计算内存池上实现高效分布式事务？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研究动机：单版本设计的局限性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DFF"/>
                </a:solidFill>
                <a:latin typeface="微软雅黑"/>
              </a:rPr>
              <a:t>Motivation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微软雅黑"/>
              </a:rPr>
              <a:t>OSDI 2024 | Motor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78992"/>
            <a:ext cx="11612880" cy="100584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152144"/>
            <a:ext cx="11384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  <a:latin typeface="微软雅黑"/>
              </a:rPr>
              <a:t>▶  FORD：分离式内存上单版本事务代表系统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  <a:latin typeface="微软雅黑"/>
              </a:rPr>
              <a:t>▶  每条数据仅维护一个版本（最新版本）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240280"/>
            <a:ext cx="5577840" cy="2286000"/>
          </a:xfrm>
          <a:prstGeom prst="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30428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4C2E"/>
                </a:solidFill>
                <a:latin typeface="微软雅黑"/>
              </a:rPr>
              <a:t>问题 ①  并发度低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761488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微软雅黑"/>
              </a:rPr>
              <a:t>事务提交期间，正在更新的数据不可读，
读操作必须等待写操作完成，形成阻塞。
→ 高并发下吞吐量严重受限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2240280"/>
            <a:ext cx="5760720" cy="2286000"/>
          </a:xfrm>
          <a:prstGeom prst="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230428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4C2E"/>
                </a:solidFill>
                <a:latin typeface="微软雅黑"/>
              </a:rPr>
              <a:t>问题 ②  Undo 日志开销高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761488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微软雅黑"/>
              </a:rPr>
              <a:t>为保证原子性，需向所有副本写入 undo 日志，
消耗网络带宽，协调者需等待所有 ACK，
→ 提交延迟高、吞吐量低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4681728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E75B6"/>
                </a:solidFill>
                <a:latin typeface="微软雅黑"/>
              </a:rPr>
              <a:t>解决方案：引入多版本机制（MVCC）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507492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1A2E"/>
                </a:solidFill>
                <a:latin typeface="微软雅黑"/>
              </a:rPr>
              <a:t>✓ 读请求获取现有版本，无需等待写操作  →  提升并发   ✓ 旧版本天然充当 undo 日志  →  消除日志写入开销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挑战：多版本机制无法直接移植到分离式内存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DFF"/>
                </a:solidFill>
                <a:latin typeface="微软雅黑"/>
              </a:rPr>
              <a:t>Challenges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微软雅黑"/>
              </a:rPr>
              <a:t>OSDI 2024 | Motor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115568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微软雅黑"/>
              </a:rPr>
              <a:t>现有多版本系统均面向传统单体架构设计，移植至分离式内存面临两大核心挑战：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00200"/>
            <a:ext cx="11612880" cy="192024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6642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E75B6"/>
                </a:solidFill>
                <a:latin typeface="微软雅黑"/>
              </a:rPr>
              <a:t>挑战 1：事务协议不兼容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084831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微软雅黑"/>
              </a:rPr>
              <a:t>现有系统假设每台服务器拥有强大 CPU 执行协议中大量计算任务（加锁、验证、时间戳计算等）。
但内存池中 CPU 计算能力极弱，无法频繁处理这些任务。
→ 需要设计全新的「单侧 RDMA」事务协议，绕过内存池弱 CPU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639312"/>
            <a:ext cx="11612880" cy="233172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37033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E75B6"/>
                </a:solidFill>
                <a:latin typeface="微软雅黑"/>
              </a:rPr>
              <a:t>挑战 2：链式版本结构效率低下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133087"/>
            <a:ext cx="112471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微软雅黑"/>
              </a:rPr>
              <a:t>现有方案（旧→新链 / 新→旧链）：读取特定版本需沿指针逐个拉取 → 每步都是一次网络往返（RTT）
实测：链式遍历步数从 1 增加到 20，RDMA 读取延迟增加 24.8 倍
GC（垃圾回收）需追踪最旧运行事务，但内存池计算单元无法感知事务状态 → GC 开销极大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Motor 总体架构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DFF"/>
                </a:solidFill>
                <a:latin typeface="微软雅黑"/>
              </a:rPr>
              <a:t>System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微软雅黑"/>
              </a:rPr>
              <a:t>OSDI 2024 | Motor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78992"/>
            <a:ext cx="11612880" cy="132588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152144"/>
            <a:ext cx="11384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600">
                <a:solidFill>
                  <a:srgbClr val="1A1A2E"/>
                </a:solidFill>
                <a:latin typeface="微软雅黑"/>
              </a:rPr>
              <a:t>▶  Motor 内存存储（Memory Storage）：CVT 结构，高效组织多版本数据</a:t>
            </a:r>
          </a:p>
          <a:p>
            <a:pPr algn="l">
              <a:spcBef>
                <a:spcPts val="500"/>
              </a:spcBef>
            </a:pPr>
            <a:r>
              <a:rPr sz="1600">
                <a:solidFill>
                  <a:srgbClr val="1A1A2E"/>
                </a:solidFill>
                <a:latin typeface="微软雅黑"/>
              </a:rPr>
              <a:t>▶  Motor 事务协议（Transaction Protocol）：完全单侧 RDMA，支持多隔离级别</a:t>
            </a:r>
          </a:p>
          <a:p>
            <a:pPr algn="l">
              <a:spcBef>
                <a:spcPts val="500"/>
              </a:spcBef>
            </a:pPr>
            <a:r>
              <a:rPr sz="1600">
                <a:solidFill>
                  <a:srgbClr val="1A1A2E"/>
                </a:solidFill>
                <a:latin typeface="微软雅黑"/>
              </a:rPr>
              <a:t>▶  两者协同：协调者通过 RDMA 绕过内存池弱 CPU，实现全流程处理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578608"/>
            <a:ext cx="2651760" cy="21945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688336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EE88"/>
                </a:solidFill>
                <a:latin typeface="微软雅黑"/>
              </a:rPr>
              <a:t>① 数据加载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145536"/>
            <a:ext cx="2514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微软雅黑"/>
              </a:rPr>
              <a:t>客户端通过内存池 CPU
分配内存，加载 DB 表
（CVT 结构 + 索引）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08376" y="344728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E75B6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2578608"/>
            <a:ext cx="2651760" cy="21945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2688336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EE88"/>
                </a:solidFill>
                <a:latin typeface="微软雅黑"/>
              </a:rPr>
              <a:t>② 建立连接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3145536"/>
            <a:ext cx="2514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微软雅黑"/>
              </a:rPr>
              <a:t>计算池与内存池建立
RDMA 连接，内存池
发送元数据给协调者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34456" y="344728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E75B6"/>
                </a:solidFill>
                <a:latin typeface="微软雅黑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2578608"/>
            <a:ext cx="2651760" cy="21945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2688336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EE88"/>
                </a:solidFill>
                <a:latin typeface="微软雅黑"/>
              </a:rPr>
              <a:t>③ 事务请求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145536"/>
            <a:ext cx="2514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微软雅黑"/>
              </a:rPr>
              <a:t>客户端向计算池
发出事务请求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0536" y="344728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E75B6"/>
                </a:solidFill>
                <a:latin typeface="微软雅黑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2578608"/>
            <a:ext cx="2651760" cy="21945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9720" y="2688336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EE88"/>
                </a:solidFill>
                <a:latin typeface="微软雅黑"/>
              </a:rPr>
              <a:t>④ 协调者执行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3145536"/>
            <a:ext cx="2514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微软雅黑"/>
              </a:rPr>
              <a:t>协调者并发运行 Motor
协议：锁定、验证、
提交（纯单侧 RDMA）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4919472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84C2E"/>
                </a:solidFill>
                <a:latin typeface="微软雅黑"/>
              </a:rPr>
              <a:t>关键设计原则：内存池不执行计算，所有计算逻辑均在计算池协调者中完成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连续版本元组（CVT）结构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DFF"/>
                </a:solidFill>
                <a:latin typeface="微软雅黑"/>
              </a:rPr>
              <a:t>Consecutive Version Tuple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微软雅黑"/>
              </a:rPr>
              <a:t>OSDI 2024 | Motor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11556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E75B6"/>
                </a:solidFill>
                <a:latin typeface="微软雅黑"/>
              </a:rPr>
              <a:t>核心思想：放弃指针链接，将多个版本连续存储于连续地址空间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72768"/>
            <a:ext cx="5577840" cy="32004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6459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E75B6"/>
                </a:solidFill>
                <a:latin typeface="微软雅黑"/>
              </a:rPr>
              <a:t>CVT 结构字段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993392"/>
            <a:ext cx="5349240" cy="2761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500">
                <a:solidFill>
                  <a:srgbClr val="1A1A2E"/>
                </a:solidFill>
                <a:latin typeface="微软雅黑"/>
              </a:rPr>
              <a:t>▶  Header：TableID / Key / Lock / AttrBarPtr / VpkgPtr</a:t>
            </a:r>
          </a:p>
          <a:p>
            <a:pPr algn="l">
              <a:spcBef>
                <a:spcPts val="500"/>
              </a:spcBef>
            </a:pPr>
            <a:r>
              <a:rPr sz="1500">
                <a:solidFill>
                  <a:srgbClr val="1A1A2E"/>
                </a:solidFill>
                <a:latin typeface="微软雅黑"/>
              </a:rPr>
              <a:t>▶  Vcell × VNum：VcellSA + VcellEA（锚）/ Valid / Version / Bitmap / StartOffset</a:t>
            </a:r>
          </a:p>
          <a:p>
            <a:pPr algn="l">
              <a:spcBef>
                <a:spcPts val="500"/>
              </a:spcBef>
            </a:pPr>
            <a:r>
              <a:rPr sz="1500">
                <a:solidFill>
                  <a:srgbClr val="1A1A2E"/>
                </a:solidFill>
                <a:latin typeface="微软雅黑"/>
              </a:rPr>
              <a:t>▶  一次 RDMA READ 获取整个 CVT（含所有版本）</a:t>
            </a:r>
          </a:p>
          <a:p>
            <a:pPr algn="l">
              <a:spcBef>
                <a:spcPts val="500"/>
              </a:spcBef>
            </a:pPr>
            <a:r>
              <a:rPr sz="1500">
                <a:solidFill>
                  <a:srgbClr val="1A1A2E"/>
                </a:solidFill>
                <a:latin typeface="微软雅黑"/>
              </a:rPr>
              <a:t>▶  本地搜索目标版本，无网络 I/O → 极低延迟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572768"/>
            <a:ext cx="5852160" cy="3200400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164592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B86A00"/>
                </a:solidFill>
                <a:latin typeface="微软雅黑"/>
              </a:rPr>
              <a:t>链式结构 vs CVT 对比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2084831"/>
            <a:ext cx="1645920" cy="42062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2139695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对比项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26680" y="2084831"/>
            <a:ext cx="1920240" cy="42062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139695"/>
            <a:ext cx="1847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旧→新 / 新→旧链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46920" y="2084831"/>
            <a:ext cx="1828800" cy="42062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0" y="2139695"/>
            <a:ext cx="1755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CVT（Motor）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60" y="2505455"/>
            <a:ext cx="16459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2560319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  <a:latin typeface="微软雅黑"/>
              </a:rPr>
              <a:t>读取往返次数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26680" y="2505455"/>
            <a:ext cx="192024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2560319"/>
            <a:ext cx="1847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  <a:latin typeface="微软雅黑"/>
              </a:rPr>
              <a:t>多次（链式遍历）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46920" y="2505455"/>
            <a:ext cx="18288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0" y="2560319"/>
            <a:ext cx="1755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  <a:latin typeface="微软雅黑"/>
              </a:rPr>
              <a:t>1 次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2926079"/>
            <a:ext cx="1645920" cy="420624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2980943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  <a:latin typeface="微软雅黑"/>
              </a:rPr>
              <a:t>延迟（增至20步）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26680" y="2926079"/>
            <a:ext cx="1920240" cy="420624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2980943"/>
            <a:ext cx="1847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  <a:latin typeface="微软雅黑"/>
              </a:rPr>
              <a:t>增加 24.8 倍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46920" y="2926079"/>
            <a:ext cx="1828800" cy="420624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0" y="2980943"/>
            <a:ext cx="1755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  <a:latin typeface="微软雅黑"/>
              </a:rPr>
              <a:t>不变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3346703"/>
            <a:ext cx="16459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0" y="3401567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  <a:latin typeface="微软雅黑"/>
              </a:rPr>
              <a:t>GC 方式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26680" y="3346703"/>
            <a:ext cx="192024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0" y="3401567"/>
            <a:ext cx="1847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  <a:latin typeface="微软雅黑"/>
              </a:rPr>
              <a:t>需追踪事务状态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46920" y="3346703"/>
            <a:ext cx="18288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92640" y="3401567"/>
            <a:ext cx="1755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  <a:latin typeface="微软雅黑"/>
              </a:rPr>
              <a:t>协调者主动抢占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80760" y="3767327"/>
            <a:ext cx="1645920" cy="420624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3822191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  <a:latin typeface="微软雅黑"/>
              </a:rPr>
              <a:t>内存结构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26680" y="3767327"/>
            <a:ext cx="1920240" cy="420624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0" y="3822191"/>
            <a:ext cx="1847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  <a:latin typeface="微软雅黑"/>
              </a:rPr>
              <a:t>动态指针链接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46920" y="3767327"/>
            <a:ext cx="1828800" cy="420624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92640" y="3822191"/>
            <a:ext cx="1755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  <a:latin typeface="微软雅黑"/>
              </a:rPr>
              <a:t>连续地址空间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" y="4956048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84C2E"/>
                </a:solidFill>
                <a:latin typeface="微软雅黑"/>
              </a:rPr>
              <a:t>VNum 配置：低争用短事务（TATP）→ VNum=2；高争用长事务（TPCC）→ VNum=4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5349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566"/>
                </a:solidFill>
                <a:latin typeface="微软雅黑"/>
              </a:rPr>
              <a:t>支持哈希表 / B+ 树索引统一接口；CVT 地址缓存避免重复拉取哈希桶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独立值域与内存开销优化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DFF"/>
                </a:solidFill>
                <a:latin typeface="微软雅黑"/>
              </a:rPr>
              <a:t>Independent Value Region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微软雅黑"/>
              </a:rPr>
              <a:t>OSDI 2024 | Motor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78992"/>
            <a:ext cx="11612880" cy="109728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152144"/>
            <a:ext cx="11384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600">
                <a:solidFill>
                  <a:srgbClr val="1A1A2E"/>
                </a:solidFill>
                <a:latin typeface="微软雅黑"/>
              </a:rPr>
              <a:t>▶  CVT（版本元数据）与数据值分开存储</a:t>
            </a:r>
          </a:p>
          <a:p>
            <a:pPr algn="l">
              <a:spcBef>
                <a:spcPts val="500"/>
              </a:spcBef>
            </a:pPr>
            <a:r>
              <a:rPr sz="1600">
                <a:solidFill>
                  <a:srgbClr val="1A1A2E"/>
                </a:solidFill>
                <a:latin typeface="微软雅黑"/>
              </a:rPr>
              <a:t>▶  先读 CVT 确定目标版本 → 再读对应值（按需传输）</a:t>
            </a:r>
          </a:p>
          <a:p>
            <a:pPr algn="l">
              <a:spcBef>
                <a:spcPts val="500"/>
              </a:spcBef>
            </a:pPr>
            <a:r>
              <a:rPr sz="1600">
                <a:solidFill>
                  <a:srgbClr val="1A1A2E"/>
                </a:solidFill>
                <a:latin typeface="微软雅黑"/>
              </a:rPr>
              <a:t>▶  CVT 大小稳定，不受值大小影响 → 读取延迟可预测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331720"/>
            <a:ext cx="5577840" cy="2011680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39572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7A3A"/>
                </a:solidFill>
                <a:latin typeface="微软雅黑"/>
              </a:rPr>
              <a:t>全值区（Full-value Area）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816352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微软雅黑"/>
              </a:rPr>
              <a:t>存储最新版本的完整值
直接用一次 RDMA READ 读取（最新版本）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2331720"/>
            <a:ext cx="5852160" cy="201168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2395728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B85A00"/>
                </a:solidFill>
                <a:latin typeface="微软雅黑"/>
              </a:rPr>
              <a:t>Delta 区（属性条带）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816352"/>
            <a:ext cx="5577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微软雅黑"/>
              </a:rPr>
              <a:t>仅存储被修改的旧属性（非完整值）
Bitmap + StartOffset 定位各版本属性偏移
构造旧版本：完整值覆盖旧属性即可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498848"/>
            <a:ext cx="11612880" cy="150876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4572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E75B6"/>
                </a:solidFill>
                <a:latin typeface="微软雅黑"/>
              </a:rPr>
              <a:t>关键优化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919472"/>
            <a:ext cx="11384280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500">
                <a:solidFill>
                  <a:srgbClr val="1A1A2E"/>
                </a:solidFill>
                <a:latin typeface="微软雅黑"/>
              </a:rPr>
              <a:t>▶  一次 RTT 读取：批量 RDMA READ 同时读完整值 + 旧属性，本地重构目标版本</a:t>
            </a:r>
          </a:p>
          <a:p>
            <a:pPr algn="l">
              <a:spcBef>
                <a:spcPts val="500"/>
              </a:spcBef>
            </a:pPr>
            <a:r>
              <a:rPr sz="1500">
                <a:solidFill>
                  <a:srgbClr val="1A1A2E"/>
                </a:solidFill>
                <a:latin typeface="微软雅黑"/>
              </a:rPr>
              <a:t>▶  一次 RTT 写入：批量 RDMA WRITE 同时更新完整值 + 追加旧属性到属性条带</a:t>
            </a:r>
          </a:p>
          <a:p>
            <a:pPr algn="l">
              <a:spcBef>
                <a:spcPts val="500"/>
              </a:spcBef>
            </a:pPr>
            <a:r>
              <a:rPr sz="1500">
                <a:solidFill>
                  <a:srgbClr val="1A1A2E"/>
                </a:solidFill>
                <a:latin typeface="微软雅黑"/>
              </a:rPr>
              <a:t>▶  内存节省：存修改属性而非完整值；TPCC 支持 4 版本，内存仅增至 FORD 的 1.45 倍（非 4 倍）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垃圾回收 &amp; 锚标志辅助一致性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DFF"/>
                </a:solidFill>
                <a:latin typeface="微软雅黑"/>
              </a:rPr>
              <a:t>GC &amp; Anchor-assisted Reading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微软雅黑"/>
              </a:rPr>
              <a:t>OSDI 2024 | Motor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78992"/>
            <a:ext cx="5577840" cy="352044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14300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E75B6"/>
                </a:solidFill>
                <a:latin typeface="微软雅黑"/>
              </a:rPr>
              <a:t>协调者主动 GC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572768"/>
            <a:ext cx="53035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微软雅黑"/>
              </a:rPr>
              <a:t>传统 GC：需追踪最旧运行事务 → 内存池无能力
Motor 方案：
• CVT 无空闲 Vcell 时，协调者主动抢占
• 选择「最旧版本」作为受害版本直接覆盖
• 无需追踪任何事务状态
RDMA 加速事务 → 最旧版本仍在使用概率极低
合适 VNum 可高效缓解少数长事务中止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078992"/>
            <a:ext cx="5852160" cy="3520440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114300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B86A00"/>
                </a:solidFill>
                <a:latin typeface="微软雅黑"/>
              </a:rPr>
              <a:t>锚标志辅助读取（4个锚：各 1 字节）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572768"/>
            <a:ext cx="557784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微软雅黑"/>
              </a:rPr>
              <a:t>问题：读取 CVT 时，另一协调者可能正在执行 GC
→ 读到被部分更新的损坏值
四个锚：VcellSA / VcellEA / VpkgSA / VpkgEA
写入顺序：
  先写 Vpkg → 写修改属性 → 写 Vcell
  四个锚同时 +1 保持相等
读取验证：
  若 4 锚相等 → 值未被修改 → 安全重构
  若不相等   → 检测到冲突 → 事务中止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475488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84C2E"/>
                </a:solidFill>
                <a:latin typeface="微软雅黑"/>
              </a:rPr>
              <a:t>保证写入顺序：禁用内存池 DDIO，确保 RDMA WRITE 以 FIFO 顺序写入主存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MVCC 事务协议：三阶段处理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DFF"/>
                </a:solidFill>
                <a:latin typeface="微软雅黑"/>
              </a:rPr>
              <a:t>Transaction Protocol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微软雅黑"/>
              </a:rPr>
              <a:t>OSDI 2024 | Motor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115568"/>
            <a:ext cx="3520440" cy="3822191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" y="1207008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微软雅黑"/>
              </a:rPr>
              <a:t>阶段 1
执行（Execution）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" y="1938528"/>
            <a:ext cx="3337560" cy="2816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微软雅黑"/>
              </a:rPr>
              <a:t>• 获取 T_start（开始时间戳）
• 查 CVT 地址缓存
• RW 数据：CAS+READ 一次 RTT 加锁并读 CVT
• RO 数据：READ 读 CVT
• 选目标版本 V0（≤T_start 最大版本）
• 提前中止：若存在 &gt;T_start 的版本
• 批量 READ 取值，检查 4 个锚标志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94560" y="4553711"/>
            <a:ext cx="1508760" cy="347472"/>
          </a:xfrm>
          <a:prstGeom prst="rect">
            <a:avLst/>
          </a:prstGeom>
          <a:solidFill>
            <a:srgbClr val="FFD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12848" y="4571999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1A2E"/>
                </a:solidFill>
                <a:latin typeface="微软雅黑"/>
              </a:rPr>
              <a:t>1 RTT（加锁+读）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85616" y="2752343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75B6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95928" y="1115568"/>
            <a:ext cx="3520440" cy="3822191"/>
          </a:xfrm>
          <a:prstGeom prst="rect">
            <a:avLst/>
          </a:prstGeom>
          <a:solidFill>
            <a:srgbClr val="1A6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05656" y="1207008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微软雅黑"/>
              </a:rPr>
              <a:t>阶段 2
验证（Validation）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05656" y="1938528"/>
            <a:ext cx="3337560" cy="2816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微软雅黑"/>
              </a:rPr>
              <a:t>• 获取 T_commit（提交时间戳）
• 仅含 RW 数据 → 跳过验证
• 重新读取 RO 数据 CVT
• 检查是否被锁或出现新版本 V'≠V0
• 任一条件成立 → 中止事务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61888" y="4553711"/>
            <a:ext cx="1508760" cy="347472"/>
          </a:xfrm>
          <a:prstGeom prst="rect">
            <a:avLst/>
          </a:prstGeom>
          <a:solidFill>
            <a:srgbClr val="FFD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80176" y="4571999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1A2E"/>
                </a:solidFill>
                <a:latin typeface="微软雅黑"/>
              </a:rPr>
              <a:t>1 RTT（验证 RO）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52944" y="2752343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75B6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63256" y="1115568"/>
            <a:ext cx="3520440" cy="3822191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72984" y="1207008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微软雅黑"/>
              </a:rPr>
              <a:t>阶段 3
提交（Commit）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72984" y="1938528"/>
            <a:ext cx="3337560" cy="2816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微软雅黑"/>
              </a:rPr>
              <a:t>• 准备新 Vcell + 新 Vpkg（本地完成）
• GC（若 CVT/属性条带已满）
• 批量 RDMA WRITE 一次 RTT
  写入所有副本 + 解锁主副本
• 收到所有 ACK → 向应用报告已提交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729216" y="4553711"/>
            <a:ext cx="1508760" cy="347472"/>
          </a:xfrm>
          <a:prstGeom prst="rect">
            <a:avLst/>
          </a:prstGeom>
          <a:solidFill>
            <a:srgbClr val="FFD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47504" y="4571999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1A2E"/>
                </a:solidFill>
                <a:latin typeface="微软雅黑"/>
              </a:rPr>
              <a:t>1 RTT（提交+解锁）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" y="5074920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84C2E"/>
                </a:solidFill>
                <a:latin typeface="微软雅黑"/>
              </a:rPr>
              <a:t>只读事务：无需验证，直接获取 T_start 时刻快照 → 最低延迟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灵活支持隔离级别 &amp; 容错机制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DFF"/>
                </a:solidFill>
                <a:latin typeface="微软雅黑"/>
              </a:rPr>
              <a:t>Isolation Levels &amp; Fault Tolerance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微软雅黑"/>
              </a:rPr>
              <a:t>OSDI 2024 | Motor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78992"/>
            <a:ext cx="5577840" cy="352044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14300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E75B6"/>
                </a:solidFill>
                <a:latin typeface="微软雅黑"/>
              </a:rPr>
              <a:t>两种隔离级别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572768"/>
            <a:ext cx="53035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微软雅黑"/>
              </a:rPr>
              <a:t>可串行化（SR）
  加锁保证 RW 数据版本不变
  验证保证 RO 数据版本不变
  只读事务移至合适串行化执行点
快照隔离（SI）
  禁用 RO 数据版本验证
  允许读取 T_start 时刻旧快照
  仍加锁解决写写冲突
  MySQL / PostgreSQL / Oracle 均采用
完整 ACID 保证：多版本→原子性，
副本复制→持久性，锁+验证→隔离性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078992"/>
            <a:ext cx="5852160" cy="352044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114300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E75B6"/>
                </a:solidFill>
                <a:latin typeface="微软雅黑"/>
              </a:rPr>
              <a:t>容错机制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572768"/>
            <a:ext cx="557784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微软雅黑"/>
              </a:rPr>
              <a:t>内存池副本故障
  提交前故障 → 协调者丢弃并中止
  主副本故障 → 备副本提升为主
  备副本故障 → 新节点替换，数据迁移
协调者故障（租约检测）
  操作日志最大 556B/事务（本地内存）
  新协调者利用日志恢复飞行中提交
  约 170ms 恢复至峰值吞吐量
网络故障
  主分区继续服务（牺牲部分可用性）
  参照 uKharon 由管理员解决分区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实验评估：配置与基准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DFF"/>
                </a:solidFill>
                <a:latin typeface="微软雅黑"/>
              </a:rPr>
              <a:t>Experimental Setup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微软雅黑"/>
              </a:rPr>
              <a:t>OSDI 2024 | Motor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78992"/>
            <a:ext cx="11612880" cy="132588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15214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E75B6"/>
                </a:solidFill>
                <a:latin typeface="微软雅黑"/>
              </a:rPr>
              <a:t>实验平台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499616"/>
            <a:ext cx="113842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500">
                <a:solidFill>
                  <a:srgbClr val="1A1A2E"/>
                </a:solidFill>
                <a:latin typeface="微软雅黑"/>
              </a:rPr>
              <a:t>▶  4 台服务器，100Gbps InfiniBand（Mellanox SB7890）互连</a:t>
            </a:r>
          </a:p>
          <a:p>
            <a:pPr algn="l">
              <a:spcBef>
                <a:spcPts val="500"/>
              </a:spcBef>
            </a:pPr>
            <a:r>
              <a:rPr sz="1500">
                <a:solidFill>
                  <a:srgbClr val="1A1A2E"/>
                </a:solidFill>
                <a:latin typeface="微软雅黑"/>
              </a:rPr>
              <a:t>▶  计算池：1 台，Intel Xeon Gold 6330 CPU</a:t>
            </a:r>
          </a:p>
          <a:p>
            <a:pPr algn="l">
              <a:spcBef>
                <a:spcPts val="500"/>
              </a:spcBef>
            </a:pPr>
            <a:r>
              <a:rPr sz="1500">
                <a:solidFill>
                  <a:srgbClr val="1A1A2E"/>
                </a:solidFill>
                <a:latin typeface="微软雅黑"/>
              </a:rPr>
              <a:t>▶  内存池：3 台，每台 192GB DRAM</a:t>
            </a:r>
          </a:p>
          <a:p>
            <a:pPr algn="l">
              <a:spcBef>
                <a:spcPts val="500"/>
              </a:spcBef>
            </a:pPr>
            <a:r>
              <a:rPr sz="1500">
                <a:solidFill>
                  <a:srgbClr val="1A1A2E"/>
                </a:solidFill>
                <a:latin typeface="微软雅黑"/>
              </a:rPr>
              <a:t>▶  3 路副本（1 主 2 备）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578608"/>
            <a:ext cx="2651760" cy="1463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2670048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</a:rPr>
              <a:t>KVS
微基准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3264408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/>
              </a:rPr>
              <a:t>10M 键值对
键 8B / 值 40B
Zipfian 分布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2578608"/>
            <a:ext cx="2651760" cy="1463040"/>
          </a:xfrm>
          <a:prstGeom prst="rect">
            <a:avLst/>
          </a:prstGeom>
          <a:solidFill>
            <a:srgbClr val="1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55848" y="2670048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</a:rPr>
              <a:t>TATP
电信应用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5848" y="3264408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/>
              </a:rPr>
              <a:t>4 张 DB 表
80% 只读事务
2M 用户 / 最大 48B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2578608"/>
            <a:ext cx="2651760" cy="1463040"/>
          </a:xfrm>
          <a:prstGeom prst="rect">
            <a:avLst/>
          </a:prstGeom>
          <a:solidFill>
            <a:srgbClr val="B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81928" y="2670048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</a:rPr>
              <a:t>SmallBank
银行应用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8" y="3264408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/>
              </a:rPr>
              <a:t>2 张 DB 表
85% 读写事务
10M 账户 / 16B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280" y="2578608"/>
            <a:ext cx="2651760" cy="1463040"/>
          </a:xfrm>
          <a:prstGeom prst="rect">
            <a:avLst/>
          </a:prstGeom>
          <a:solidFill>
            <a:srgbClr val="E84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08008" y="2670048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</a:rPr>
              <a:t>TPCC
复杂订单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8008" y="3264408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/>
              </a:rPr>
              <a:t>9 张 DB 表
92% 读写事务
24 仓库 / 最大 672B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187952"/>
            <a:ext cx="11612880" cy="914400"/>
          </a:xfrm>
          <a:prstGeom prst="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426110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E84C2E"/>
                </a:solidFill>
                <a:latin typeface="微软雅黑"/>
              </a:rPr>
              <a:t>对比系统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4608576"/>
            <a:ext cx="11384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500">
                <a:solidFill>
                  <a:srgbClr val="1A1A2E"/>
                </a:solidFill>
                <a:latin typeface="微软雅黑"/>
              </a:rPr>
              <a:t>▶  FaRMv2-DM：FaRMv2（单体多版本）用单侧 RDMA 重新实现 → 兼容分离式内存</a:t>
            </a:r>
          </a:p>
          <a:p>
            <a:pPr algn="l">
              <a:spcBef>
                <a:spcPts val="500"/>
              </a:spcBef>
            </a:pPr>
            <a:r>
              <a:rPr sz="1500">
                <a:solidFill>
                  <a:srgbClr val="1A1A2E"/>
                </a:solidFill>
                <a:latin typeface="微软雅黑"/>
              </a:rPr>
              <a:t>▶  FORD：分离式内存单版本事务代表系统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实验结果：端到端性能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DFF"/>
                </a:solidFill>
                <a:latin typeface="微软雅黑"/>
              </a:rPr>
              <a:t>End-to-End 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微软雅黑"/>
              </a:rPr>
              <a:t>OSDI 2024 | Motor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115568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5B6"/>
                </a:solidFill>
                <a:latin typeface="微软雅黑"/>
              </a:rPr>
              <a:t>Motor vs FORD（单版本）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72768"/>
            <a:ext cx="1371600" cy="40233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" y="1627632"/>
            <a:ext cx="13167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基准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20" y="1572768"/>
            <a:ext cx="1828800" cy="40233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82496" y="1627632"/>
            <a:ext cx="17739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吞吐量提升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1572768"/>
            <a:ext cx="1920240" cy="40233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11296" y="1627632"/>
            <a:ext cx="18653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P50 延迟降低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975104"/>
            <a:ext cx="13716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" y="2029968"/>
            <a:ext cx="13167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  <a:latin typeface="微软雅黑"/>
              </a:rPr>
              <a:t>TATP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20" y="1975104"/>
            <a:ext cx="18288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82496" y="2029968"/>
            <a:ext cx="17739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  <a:latin typeface="微软雅黑"/>
              </a:rPr>
              <a:t>+14.4%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1975104"/>
            <a:ext cx="19202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11296" y="2029968"/>
            <a:ext cx="18653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  <a:latin typeface="微软雅黑"/>
              </a:rPr>
              <a:t>FORD 更低*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377440"/>
            <a:ext cx="1371600" cy="402336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0896" y="2432304"/>
            <a:ext cx="13167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  <a:latin typeface="微软雅黑"/>
              </a:rPr>
              <a:t>TPCC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45920" y="2377440"/>
            <a:ext cx="1828800" cy="402336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82496" y="2432304"/>
            <a:ext cx="17739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  <a:latin typeface="微软雅黑"/>
              </a:rPr>
              <a:t>+98.1%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0" y="2377440"/>
            <a:ext cx="1920240" cy="402336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11296" y="2432304"/>
            <a:ext cx="18653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  <a:latin typeface="微软雅黑"/>
              </a:rPr>
              <a:t>–55.8%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779776"/>
            <a:ext cx="13716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0896" y="2834640"/>
            <a:ext cx="13167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  <a:latin typeface="微软雅黑"/>
              </a:rPr>
              <a:t>SmallBank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45920" y="2779776"/>
            <a:ext cx="18288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82496" y="2834640"/>
            <a:ext cx="17739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  <a:latin typeface="微软雅黑"/>
              </a:rPr>
              <a:t>+65.4%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4720" y="2779776"/>
            <a:ext cx="19202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11296" y="2834640"/>
            <a:ext cx="18653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  <a:latin typeface="微软雅黑"/>
              </a:rPr>
              <a:t>–26.2%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329184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66"/>
                </a:solidFill>
                <a:latin typeface="微软雅黑"/>
              </a:rPr>
              <a:t>*TATP 中 70% 事务只读 1 对象，FORD 仅 1 RTT；Motor 需 2 RTT（CVT+值）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1115568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5B6"/>
                </a:solidFill>
                <a:latin typeface="微软雅黑"/>
              </a:rPr>
              <a:t>Motor vs FaRMv2-DM（多版本）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35040" y="1572768"/>
            <a:ext cx="1188720" cy="40233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71616" y="1627632"/>
            <a:ext cx="11338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基准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23760" y="1572768"/>
            <a:ext cx="1645920" cy="40233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60336" y="1627632"/>
            <a:ext cx="15910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吞吐量提升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869680" y="1572768"/>
            <a:ext cx="2468880" cy="40233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06256" y="1627632"/>
            <a:ext cx="24140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P50/P99 延迟降低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35040" y="1975104"/>
            <a:ext cx="11887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71616" y="2029968"/>
            <a:ext cx="11338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  <a:latin typeface="微软雅黑"/>
              </a:rPr>
              <a:t>TATP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23760" y="1975104"/>
            <a:ext cx="16459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60336" y="2029968"/>
            <a:ext cx="15910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  <a:latin typeface="微软雅黑"/>
              </a:rPr>
              <a:t>+18.9%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869680" y="1975104"/>
            <a:ext cx="246888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06256" y="2029968"/>
            <a:ext cx="24140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  <a:latin typeface="微软雅黑"/>
              </a:rPr>
              <a:t>8.6% / 39.1%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35040" y="2377440"/>
            <a:ext cx="1188720" cy="402336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71616" y="2432304"/>
            <a:ext cx="11338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  <a:latin typeface="微软雅黑"/>
              </a:rPr>
              <a:t>TPCC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223760" y="2377440"/>
            <a:ext cx="1645920" cy="402336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260336" y="2432304"/>
            <a:ext cx="15910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  <a:latin typeface="微软雅黑"/>
              </a:rPr>
              <a:t>+44.3%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869680" y="2377440"/>
            <a:ext cx="2468880" cy="402336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906256" y="2432304"/>
            <a:ext cx="24140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  <a:latin typeface="微软雅黑"/>
              </a:rPr>
              <a:t>52.1% / 35.6%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35040" y="2779776"/>
            <a:ext cx="11887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71616" y="2834640"/>
            <a:ext cx="11338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  <a:latin typeface="微软雅黑"/>
              </a:rPr>
              <a:t>SmallBank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223760" y="2779776"/>
            <a:ext cx="16459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60336" y="2834640"/>
            <a:ext cx="15910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  <a:latin typeface="微软雅黑"/>
              </a:rPr>
              <a:t>+29.5%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869680" y="2779776"/>
            <a:ext cx="246888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906256" y="2834640"/>
            <a:ext cx="24140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2E"/>
                </a:solidFill>
                <a:latin typeface="微软雅黑"/>
              </a:rPr>
              <a:t>43.6% / 34.5%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3520440"/>
            <a:ext cx="11612880" cy="1371600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4048" y="3593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A7A3A"/>
                </a:solidFill>
                <a:latin typeface="微软雅黑"/>
              </a:rPr>
              <a:t>Motor 优于 FaRMv2-DM 的三大原因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1480" y="3941064"/>
            <a:ext cx="1138428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400">
                <a:solidFill>
                  <a:srgbClr val="1A1A2E"/>
                </a:solidFill>
                <a:latin typeface="微软雅黑"/>
              </a:rPr>
              <a:t>▶  CVT 一次往返获取所有版本，FaRMv2 链式结构需多次往返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1A1A2E"/>
                </a:solidFill>
                <a:latin typeface="微软雅黑"/>
              </a:rPr>
              <a:t>▶  Motor 批量发送加锁+读取请求，FaRMv2 需专用 RTT 加锁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1A1A2E"/>
                </a:solidFill>
                <a:latin typeface="微软雅黑"/>
              </a:rPr>
              <a:t>▶  Motor 一次 RTT 提交所有副本，FaRMv2 需两次 RTT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内存开销 &amp; 隔离级别性能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DFF"/>
                </a:solidFill>
                <a:latin typeface="微软雅黑"/>
              </a:rPr>
              <a:t>Memory Usage &amp; Isolation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微软雅黑"/>
              </a:rPr>
              <a:t>OSDI 2024 | Motor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78992"/>
            <a:ext cx="11612880" cy="196596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15214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E75B6"/>
                </a:solidFill>
                <a:latin typeface="微软雅黑"/>
              </a:rPr>
              <a:t>内存开销分析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499616"/>
            <a:ext cx="11384280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500">
                <a:solidFill>
                  <a:srgbClr val="1A1A2E"/>
                </a:solidFill>
                <a:latin typeface="微软雅黑"/>
              </a:rPr>
              <a:t>▶  FORD（单版本）：内存最低（基准线）</a:t>
            </a:r>
          </a:p>
          <a:p>
            <a:pPr algn="l">
              <a:spcBef>
                <a:spcPts val="500"/>
              </a:spcBef>
            </a:pPr>
            <a:r>
              <a:rPr sz="1500">
                <a:solidFill>
                  <a:srgbClr val="1A1A2E"/>
                </a:solidFill>
                <a:latin typeface="微软雅黑"/>
              </a:rPr>
              <a:t>▶  Motor（4版本 TPCC）：内存仅增至 FORD 的 1.45 倍（非 4 倍）</a:t>
            </a:r>
          </a:p>
          <a:p>
            <a:pPr algn="l">
              <a:spcBef>
                <a:spcPts val="500"/>
              </a:spcBef>
            </a:pPr>
            <a:r>
              <a:rPr sz="1500">
                <a:solidFill>
                  <a:srgbClr val="1A1A2E"/>
                </a:solidFill>
                <a:latin typeface="微软雅黑"/>
              </a:rPr>
              <a:t>▶  FaRMv2-DM：比 Motor 高 14.6%–22.8%（每版本存完整值 + 指针开销）</a:t>
            </a:r>
          </a:p>
          <a:p>
            <a:pPr algn="l">
              <a:spcBef>
                <a:spcPts val="500"/>
              </a:spcBef>
            </a:pPr>
            <a:r>
              <a:rPr sz="1500">
                <a:solidFill>
                  <a:srgbClr val="1A1A2E"/>
                </a:solidFill>
                <a:latin typeface="微软雅黑"/>
              </a:rPr>
              <a:t>▶  Motor 节省内存三策略：① 存修改属性 ② 精确估算 ABS ③ 按负载配置 VNum</a:t>
            </a:r>
          </a:p>
          <a:p>
            <a:pPr algn="l">
              <a:spcBef>
                <a:spcPts val="500"/>
              </a:spcBef>
            </a:pPr>
            <a:r>
              <a:rPr sz="1500">
                <a:solidFill>
                  <a:srgbClr val="1A1A2E"/>
                </a:solidFill>
                <a:latin typeface="微软雅黑"/>
              </a:rPr>
              <a:t>▶  VNum 从 2→8（+4 倍），内存占用仅增约 1.4–2.1 倍（远低于线性）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182112"/>
            <a:ext cx="11612880" cy="171907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324612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5A00"/>
                </a:solidFill>
                <a:latin typeface="微软雅黑"/>
              </a:rPr>
              <a:t>隔离级别对性能的影响（Motor-SR vs Motor-SI）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675887"/>
            <a:ext cx="112471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微软雅黑"/>
              </a:rPr>
              <a:t>Motor-SI（快照隔离）消除 RO 数据验证阶段，在读密集（TATP）和写密集（TPCC）上均优于 Motor-SR
TPCC 改善更显著：每事务访问更多 RO 数据 + 更高读写争用，放宽隔离带来更大收益
已被 MySQL / PostgreSQL / Oracle / SQL Server 采用，在实际 OLTP 中广泛可用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5029200"/>
            <a:ext cx="11612880" cy="804672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510235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E75B6"/>
                </a:solidFill>
                <a:latin typeface="微软雅黑"/>
              </a:rPr>
              <a:t>PM 扩展性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5449824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400">
                <a:solidFill>
                  <a:srgbClr val="1A1A2E"/>
                </a:solidFill>
                <a:latin typeface="微软雅黑"/>
              </a:rPr>
              <a:t>▶  内存池使用 Intel Optane PM（持久内存），吞吐量仅降低 13.1%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1A1A2E"/>
                </a:solidFill>
                <a:latin typeface="微软雅黑"/>
              </a:rPr>
              <a:t>▶  Motor 在 DRAM 和 PM 上均高效工作，具备良好可移植性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结论与总结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DFF"/>
                </a:solidFill>
                <a:latin typeface="微软雅黑"/>
              </a:rPr>
              <a:t>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微软雅黑"/>
              </a:rPr>
              <a:t>OSDI 2024 | Motor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15568"/>
            <a:ext cx="4480560" cy="8046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170432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</a:rPr>
              <a:t>CVT 结构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536192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/>
              </a:rPr>
              <a:t>连续存储多版本，一次 RDMA READ 获取所有版本，消除链式遍历多 RTT 开销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1115568"/>
            <a:ext cx="4480560" cy="804672"/>
          </a:xfrm>
          <a:prstGeom prst="rect">
            <a:avLst/>
          </a:prstGeom>
          <a:solidFill>
            <a:srgbClr val="1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96128" y="1170432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</a:rPr>
              <a:t>协调者主动 GC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1536192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/>
              </a:rPr>
              <a:t>无需追踪事务状态，抢占式覆盖最旧版本，轻量高效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048256"/>
            <a:ext cx="4480560" cy="804672"/>
          </a:xfrm>
          <a:prstGeom prst="rect">
            <a:avLst/>
          </a:prstGeom>
          <a:solidFill>
            <a:srgbClr val="B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10312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</a:rPr>
              <a:t>锚标志一致性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246888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/>
              </a:rPr>
              <a:t>4 个锚标志检测并发 GC 导致的部分更新，保证值读取正确性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2048256"/>
            <a:ext cx="4480560" cy="804672"/>
          </a:xfrm>
          <a:prstGeom prst="rect">
            <a:avLst/>
          </a:prstGeom>
          <a:solidFill>
            <a:srgbClr val="E84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96128" y="210312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</a:rPr>
              <a:t>单侧 RDMA 协议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96128" y="246888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/>
              </a:rPr>
              <a:t>三阶段（执行/验证/提交）完全绕过内存池弱 CPU，支持 SR 和 SI 隔离级别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54196" y="2980944"/>
            <a:ext cx="4480560" cy="804672"/>
          </a:xfrm>
          <a:prstGeom prst="rect">
            <a:avLst/>
          </a:prstGeom>
          <a:solidFill>
            <a:srgbClr val="55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63924" y="3035808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</a:rPr>
              <a:t>显著性能提升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63924" y="3401568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/>
              </a:rPr>
              <a:t>吞吐量最高 +98.1%，延迟最低 –55.8%，内存开销适度（TPCC 仅 1.45× FORD）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2636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66"/>
                </a:solidFill>
                <a:latin typeface="微软雅黑"/>
              </a:rPr>
              <a:t>Motor 开源地址：https://github.com/minghust/motor  ·  发表于 OSDI 2024（第 801–819 页）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